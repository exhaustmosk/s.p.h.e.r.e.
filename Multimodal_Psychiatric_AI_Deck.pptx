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FAFC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0080"/>
            <a:ext cx="1072865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1097280"/>
            <a:ext cx="329184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OPEN ELECTIVE CAPSTONE PROJECT | CLINICAL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97840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172A"/>
                </a:solidFill>
                <a:latin typeface="Arial"/>
              </a:defRPr>
            </a:pPr>
            <a:r>
              <a:t>Explainable Multimodal AI Framework for Psychiatric Evaluation &amp; Mental Health Assessment</a:t>
            </a:r>
          </a:p>
          <a:p>
            <a:pPr>
              <a:defRPr sz="1500">
                <a:solidFill>
                  <a:srgbClr val="475569"/>
                </a:solidFill>
                <a:latin typeface="Calibri"/>
              </a:defRPr>
            </a:pPr>
            <a:r>
              <a:t>Integrating Facial Micro-Expressions, Speech Prosody, Digital Behavior, and Autonomic Physiological Indicators for Objective Clinical Decision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520440"/>
            <a:ext cx="97840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703320"/>
            <a:ext cx="9784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PROJECT AUTHORS &amp; RESEARCH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4069080"/>
            <a:ext cx="230428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4160520"/>
            <a:ext cx="202996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Akshaj S.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Undergraduate Researcher</a:t>
            </a:r>
            <a:br/>
            <a:r>
              <a:t>Dept. of Mechanical 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8" y="4069080"/>
            <a:ext cx="230428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4160520"/>
            <a:ext cx="202996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Gautam Girish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Undergraduate Researcher</a:t>
            </a:r>
            <a:br/>
            <a:r>
              <a:t>Dept. of Mechanical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4069080"/>
            <a:ext cx="230428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4160520"/>
            <a:ext cx="202996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Abid Roshan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Undergraduate Researcher</a:t>
            </a:r>
            <a:br/>
            <a:r>
              <a:t>Dept. of Mechanical Engineering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50224" y="4069080"/>
            <a:ext cx="230428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87384" y="4160520"/>
            <a:ext cx="202996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Jacob S. Mathew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Undergraduate Researcher</a:t>
            </a:r>
            <a:br/>
            <a:r>
              <a:t>Dept. of Mechanical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03520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Calibri"/>
              </a:defRPr>
            </a:pPr>
            <a:r>
              <a:t>SRM Institute of Science and Technology (SRMIST) — Department of Mechanical Engineering (Open Elective)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CLINICAL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Problem Statement &amp; Clinical Imperative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Transitioning from subjective questionnaires to quantitative multi-sensor psychiatric biomarkers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256032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DC2626"/>
                </a:solidFill>
                <a:latin typeface="Arial"/>
              </a:defRPr>
            </a:pPr>
            <a:r>
              <a:t>CURRENT CLINICAL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Traditional Diagnostic Limitations</a:t>
            </a:r>
          </a:p>
          <a:p>
            <a:pPr>
              <a:defRPr sz="1250" b="1">
                <a:solidFill>
                  <a:srgbClr val="1E293B"/>
                </a:solidFill>
                <a:latin typeface="Arial"/>
              </a:defRPr>
            </a:pPr>
            <a:r>
              <a:t>• Subjective Self-Report Bias: 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Calibri"/>
              </a:defRPr>
            </a:pPr>
            <a:r>
              <a:t>   Scales like PHQ-9 and GAD-7 suffer from recall errors, social desirability bias, and acute emotional masking.</a:t>
            </a:r>
          </a:p>
          <a:p>
            <a:pPr>
              <a:defRPr sz="1250" b="1">
                <a:solidFill>
                  <a:srgbClr val="1E293B"/>
                </a:solidFill>
                <a:latin typeface="Arial"/>
              </a:defRPr>
            </a:pPr>
            <a:r>
              <a:t>• High Inter-Clinician Variability: 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Calibri"/>
              </a:defRPr>
            </a:pPr>
            <a:r>
              <a:t>   Manual psychiatric interviews lack standardized physical metrics, leading to delayed or discordant diagnoses.</a:t>
            </a:r>
          </a:p>
          <a:p>
            <a:pPr>
              <a:defRPr sz="1250" b="1">
                <a:solidFill>
                  <a:srgbClr val="1E293B"/>
                </a:solidFill>
                <a:latin typeface="Arial"/>
              </a:defRPr>
            </a:pPr>
            <a:r>
              <a:t>• Absence of Continuous Monitoring: 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Calibri"/>
              </a:defRPr>
            </a:pPr>
            <a:r>
              <a:t>   Episodic clinical visits fail to track episodic fluctuations in autonomic tone and behavioral deterioration.</a:t>
            </a:r>
          </a:p>
          <a:p>
            <a:pPr>
              <a:defRPr sz="1250" b="1">
                <a:solidFill>
                  <a:srgbClr val="1E293B"/>
                </a:solidFill>
                <a:latin typeface="Arial"/>
              </a:defRPr>
            </a:pPr>
            <a:r>
              <a:t>• Delayed Clinical Intervention: 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Calibri"/>
              </a:defRPr>
            </a:pPr>
            <a:r>
              <a:t>   Patients typically seek help only after acute functional impairment occurs, missing early therapeutic windows.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22415" y="1783080"/>
            <a:ext cx="2743200" cy="2743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059669"/>
                </a:solidFill>
                <a:latin typeface="Arial"/>
              </a:defRPr>
            </a:pPr>
            <a:r>
              <a:t>PROPOSED MULTIMODAL PARADIGM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2415" y="2194560"/>
            <a:ext cx="46634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Objective Biomarker Integration</a:t>
            </a:r>
          </a:p>
          <a:p>
            <a:pPr>
              <a:defRPr sz="1250" b="1">
                <a:solidFill>
                  <a:srgbClr val="1E293B"/>
                </a:solidFill>
                <a:latin typeface="Arial"/>
              </a:defRPr>
            </a:pPr>
            <a:r>
              <a:t>✔ Acoustic Vocal Prosody: 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Calibri"/>
              </a:defRPr>
            </a:pPr>
            <a:r>
              <a:t>   Speech emotion dynamics, pitch entropy, MFCC variance, and acoustic hesitation markers via Wav2Vec 2.0.</a:t>
            </a:r>
          </a:p>
          <a:p>
            <a:pPr>
              <a:defRPr sz="1250" b="1">
                <a:solidFill>
                  <a:srgbClr val="1E293B"/>
                </a:solidFill>
                <a:latin typeface="Arial"/>
              </a:defRPr>
            </a:pPr>
            <a:r>
              <a:t>✔ Facial Affective Dynamics: 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Calibri"/>
              </a:defRPr>
            </a:pPr>
            <a:r>
              <a:t>   Vision Transformer (ViT) embeddings capturing micro-expression variance, smile intensity, and eye-blink frequency.</a:t>
            </a:r>
          </a:p>
          <a:p>
            <a:pPr>
              <a:defRPr sz="1250" b="1">
                <a:solidFill>
                  <a:srgbClr val="1E293B"/>
                </a:solidFill>
                <a:latin typeface="Arial"/>
              </a:defRPr>
            </a:pPr>
            <a:r>
              <a:t>✔ Autonomic Physiological Signals: 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Calibri"/>
              </a:defRPr>
            </a:pPr>
            <a:r>
              <a:t>   Empirical autonomic telemetry measuring Galvanic Skin Response (GSR), Heart Rate Variability (HRV), and skin temperature.</a:t>
            </a:r>
          </a:p>
          <a:p>
            <a:pPr>
              <a:defRPr sz="1250" b="1">
                <a:solidFill>
                  <a:srgbClr val="1E293B"/>
                </a:solidFill>
                <a:latin typeface="Arial"/>
              </a:defRPr>
            </a:pPr>
            <a:r>
              <a:t>✔ Continuous Behavioral Telemetry: 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Calibri"/>
              </a:defRPr>
            </a:pPr>
            <a:r>
              <a:t>   Objective device telemetry capturing typing speed, application usage duration, and session idle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Three Core System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A unified tri-objective machine learning pipeline engineered for psychiatric diagnostics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92424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146304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OBJECTIVE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93522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4-Class Mental Health Classification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Core Task: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Discrete categorization of patient clinical mental state.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Target Classes: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Healthy (0), Mild Stress (1), Moderate Stress (2), Severe Stress (3).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Model Engine: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AutoGluon multi-layer stacked ensemble incorporating LightGBM, CatBoost, ExtraTrees &amp; Random Forests.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Clinical Impact: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Provides rapid triage and diagnostic stratification for acute clinical decision pathways.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554480"/>
            <a:ext cx="3392424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26864" y="1783080"/>
            <a:ext cx="1463040" cy="256032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7C3AED"/>
                </a:solidFill>
                <a:latin typeface="Arial"/>
              </a:defRPr>
            </a:pPr>
            <a:r>
              <a:t>OBJECTIVE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148840"/>
            <a:ext cx="293522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Multi-Output Severity Regression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Core Task: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Continuous quantitative symptom severity prediction.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Target Metrics: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Depression Score (0–34), Anxiety Score (0–24), Stress Score (0–39).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Model Engine: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MultiOutputRegressor wrapped around gradient boosted XGBoost trees with 5-Fold Cross Validation.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Clinical Impact: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Yields fine-grained dimensional severity ratings tracking subtle symptom escalations.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554480"/>
            <a:ext cx="3392424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93608" y="1783080"/>
            <a:ext cx="1463040" cy="25603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059669"/>
                </a:solidFill>
                <a:latin typeface="Arial"/>
              </a:defRPr>
            </a:pPr>
            <a:r>
              <a:t>OBJECTIVE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148840"/>
            <a:ext cx="293522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TreeSHAP Explainability Engine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Core Task: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Model transparency and modality attribution auditing.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Attribution Tiers: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Acoustic / Speech (32 PCA) vs. Visual / Facial (32 PCA) vs. Physiology &amp; Behavior (18 Tabular).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Explainability Tool: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Game-theoretic TreeSHAP feature importance and patient-level attribution waterfall plots.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Clinical Impact: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Enables physician auditability, verifying that empirical biological markers drive high-risk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DATA INGESTION &amp; MULTIMODAL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Dataset Architecture &amp; Heterogeneous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Aggregating acoustic speech, visual affect, and autonomic telemetry into a synchronized clinical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92424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55648"/>
            <a:ext cx="173736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ACOUSTIC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84831"/>
            <a:ext cx="302666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1,440 Audio Files (24 Actors)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3026664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RAVDESS Speech Emotion Corpus</a:t>
            </a:r>
          </a:p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Raw Audio Ingestion: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16 kHz studio-quality vocal recordings of validated emotional statements.</a:t>
            </a:r>
          </a:p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Feature Extractor: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HuggingFace r-f/wav2vec-english-speech-emotion-recognition.</a:t>
            </a:r>
          </a:p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Deep Embeddings: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1024-dimensional sequence representations extracted via mean-pooling.</a:t>
            </a:r>
          </a:p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Target Mapping: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8 emotional categories (Neutral, Calm, Happy, Sad, Angry, Fear, Disgust, Surprised) mapped to clinical severity.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554480"/>
            <a:ext cx="3392424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81144" y="1755648"/>
            <a:ext cx="1737360" cy="256032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7C3AED"/>
                </a:solidFill>
                <a:latin typeface="Arial"/>
              </a:defRPr>
            </a:pPr>
            <a:r>
              <a:t>VISUAL STREAM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81144" y="2084831"/>
            <a:ext cx="302666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t>28,709 Facial Images (48×48)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697480"/>
            <a:ext cx="3026664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FER2013 Facial Expression Dataset</a:t>
            </a:r>
          </a:p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Image Modality: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Grayscale facial expressions converted to 3-channel RGB tensors.</a:t>
            </a:r>
          </a:p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Feature Extractor: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dima806/facial_emotions_image_detection Vision Transformer (ViT).</a:t>
            </a:r>
          </a:p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Deep Embeddings: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768-dimensional visual embeddings extracted from the [CLS] sequence pooler token.</a:t>
            </a:r>
          </a:p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Affect Categories: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7 primary affective classes (Angry, Disgust, Fear, Happy, Neutral, Sad, Surprise).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554480"/>
            <a:ext cx="3392424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47888" y="1755648"/>
            <a:ext cx="1737360" cy="25603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059669"/>
                </a:solidFill>
                <a:latin typeface="Arial"/>
              </a:defRPr>
            </a:pPr>
            <a:r>
              <a:t>PHYSIOLOGY &amp; BEHAVIOR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2084831"/>
            <a:ext cx="302666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4,000 Complete Patient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697480"/>
            <a:ext cx="3026664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Clinical Physiological &amp; Behavioral Cohort</a:t>
            </a:r>
          </a:p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Autonomic Biomarkers: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Heart Rate (BPM), Heart Rate Variability (HRV Index), Galvanic Skin Response (GSR), Skin Temperature.</a:t>
            </a:r>
          </a:p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Behavioral Telemetry: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Daily App Usage (min), Session Frequency, Idle Time, Typing Speed (WPM), Sleep Quality.</a:t>
            </a:r>
          </a:p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Affective Micro-Cues: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Facial Emotion Variance, Eye Blink Rate, Smile Intensity, Head Motion Index, Pitch Mean, Speech Rate.</a:t>
            </a:r>
          </a:p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Ground-Truth Labels: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Categorical Mental_Health_Status + Continuous Depression, Anxiety, and Stress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DATA ENGINEERING &amp; PIPELINE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Data Preprocessing &amp; Semantic Target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Solving cross-dataset misalignment through clinically validated affective state grouping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96596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37360"/>
            <a:ext cx="2926080" cy="2743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CRITICAL DATA ENGINEERING BREAKTHROUGH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Overcoming Cross-Dataset Mismatch via Semantic Target Alignment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Blind inner joins across independent datasets (survey rows vs. RAVDESS audio vs. FER2013 images) previously destroyed cross-modal correlations (resulting in 35% accuracy). We engineered a Semantic Target Alignment Engine that maps psychiatric severity categories directly to clinically coherent emotional subsets:</a:t>
            </a:r>
          </a:p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• Healthy (0) → Happy, Neutral, Surprise   |   • Mild Stress (1) → Neutral, Sad   |   • Moderate Stress (2) → Sad, Angry, Disgust   |   • Severe Stress (3) → Angry, Fear, Disgust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03320"/>
            <a:ext cx="3392424" cy="2697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886200"/>
            <a:ext cx="1005840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3026664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Feature Standardization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Fitted StandardScaler strictly on 18 numerical tabular features on the training set.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Test set transformed independently to prevent statistical data leakage.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Preserves true zero-mean and unit-variance distributions across physiological signals.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3703320"/>
            <a:ext cx="3392424" cy="2697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81144" y="3886200"/>
            <a:ext cx="1005840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4206240"/>
            <a:ext cx="3026664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PCA Noise Reduction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Acoustic PCA: 1024-d → 32 components (retaining &gt;99.7% cumulative variance).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Visual PCA: 768-d → 32 components (retaining &gt;62.0% cumulative variance).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Compresses high-dimensional noise while accelerating downstream gradient boosting.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3703320"/>
            <a:ext cx="3392424" cy="2697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47888" y="3886200"/>
            <a:ext cx="1005840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4206240"/>
            <a:ext cx="3026664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Fused Stratified Matrix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Constructed X_fused (4,000 samples × 82 features: 18 Tabular + 32 Speech + 32 Facial).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80/20 Stratified Partitioning (3,200 Train / 800 Test) matching target distribution.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Ensures balanced representation of rare Severe Stress cases across all validation folds.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HIERARCHICAL STACKING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Sequential Stacking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Two-stage modeling: Symptom severity regression feeds into multi-layer classification ensemble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2743200" cy="2743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7C3AED"/>
                </a:solidFill>
                <a:latin typeface="Arial"/>
              </a:defRPr>
            </a:pPr>
            <a:r>
              <a:t>LAYER 1: SYMPTOM REGRESSOR (HEAD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76272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Continuous Severity Predictor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Architecture: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MultiOutputRegressor(XGBRegressor(n_estimators=300, max_depth=6, lr=0.05)).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Input Features: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82 Fused Multimodal Features (18 Tabular + 32 Speech PCA + 32 Facial PCA).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Out-Of-Fold Generation: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5-Fold Cross Validation generates clean, leak-free Out-Of-Fold (OOF) severity predictions on training data.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Predicted Outputs: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• pred_depression (0–34 Scale)</a:t>
            </a:r>
            <a:br/>
            <a:r>
              <a:t>• pred_anxiety (0–24 Scale)</a:t>
            </a:r>
            <a:br/>
            <a:r>
              <a:t>• pred_stress (0–39 Scale)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Regression Metrics: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Achieved positive R² = 0.1948, MAE = 6.99, and RMSE = 8.54 across test targets.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22415" y="1783080"/>
            <a:ext cx="2926080" cy="2743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LAYER 2: AUTOGLUON ENSEMBLE (HEAD 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2415" y="2176272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Multi-Layer Stack Ensemble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✔ Architecture: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AutoGluon TabularPredictor (presets='best_quality', auto_stack=True, eval_metric='f1_macro').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✔ Stacked Input Matrix: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85 Features = 82 Multimodal Features + 3 Injected Severity Predictions (pred_depression, pred_anxiety, pred_stress).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✔ Model Search Space: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Trained 25 base &amp; bagged models spanning LightGBM, XGBoost, CatBoost, ExtraTrees, and Random Forests across 3 stack levels.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✔ Champion Model: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RandomForest_r195_BAG_L1 with weighted multi-model ensembling achieving top generalization.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✔ Evaluation Result: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89.38% Overall Accuracy, 0.9785 ROC-AUC, 0.8418 Macro F1.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QUANTITATIVE VALIDATION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Model Performance &amp; Matrix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Rigorous evaluation on the 800-sample stratified test set demonstrating clinical reliability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194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3600" b="1">
                <a:solidFill>
                  <a:srgbClr val="2563EB"/>
                </a:solidFill>
                <a:latin typeface="Arial"/>
              </a:defRPr>
            </a:pPr>
            <a:r>
              <a:t>89.38%</a:t>
            </a:r>
          </a:p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OVERALL ACCURACY</a:t>
            </a:r>
          </a:p>
          <a:p>
            <a:pPr algn="ctr">
              <a:defRPr sz="1000">
                <a:solidFill>
                  <a:srgbClr val="64748B"/>
                </a:solidFill>
                <a:latin typeface="Calibri"/>
              </a:defRPr>
            </a:pPr>
            <a:r>
              <a:t>Test Set (800 Cases)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46888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2194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3600" b="1">
                <a:solidFill>
                  <a:srgbClr val="DC2626"/>
                </a:solidFill>
                <a:latin typeface="Arial"/>
              </a:defRPr>
            </a:pPr>
            <a:r>
              <a:t>100.0%</a:t>
            </a:r>
          </a:p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SEVERE PRECISION</a:t>
            </a:r>
          </a:p>
          <a:p>
            <a:pPr algn="ctr">
              <a:defRPr sz="1000">
                <a:solidFill>
                  <a:srgbClr val="64748B"/>
                </a:solidFill>
                <a:latin typeface="Calibri"/>
              </a:defRPr>
            </a:pPr>
            <a:r>
              <a:t>Zero False Positives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46888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2194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3600" b="1">
                <a:solidFill>
                  <a:srgbClr val="059669"/>
                </a:solidFill>
                <a:latin typeface="Arial"/>
              </a:defRPr>
            </a:pPr>
            <a:r>
              <a:t>0.9785</a:t>
            </a:r>
          </a:p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MULTI-CLASS ROC-AUC</a:t>
            </a:r>
          </a:p>
          <a:p>
            <a:pPr algn="ctr">
              <a:defRPr sz="1000">
                <a:solidFill>
                  <a:srgbClr val="64748B"/>
                </a:solidFill>
                <a:latin typeface="Calibri"/>
              </a:defRPr>
            </a:pPr>
            <a:r>
              <a:t>One-vs-Rest Discrimination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54480"/>
            <a:ext cx="246888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91640"/>
            <a:ext cx="2194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3600" b="1">
                <a:solidFill>
                  <a:srgbClr val="7C3AED"/>
                </a:solidFill>
                <a:latin typeface="Arial"/>
              </a:defRPr>
            </a:pPr>
            <a:r>
              <a:t>0.8418</a:t>
            </a:r>
          </a:p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MACRO F1-SCORE</a:t>
            </a:r>
          </a:p>
          <a:p>
            <a:pPr algn="ctr">
              <a:defRPr sz="1000">
                <a:solidFill>
                  <a:srgbClr val="64748B"/>
                </a:solidFill>
                <a:latin typeface="Calibri"/>
              </a:defRPr>
            </a:pPr>
            <a:r>
              <a:t>Balanced Across All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10728655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3520440"/>
            <a:ext cx="301752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CLASS-WISE CLINICAL PERFORMANCE BREAKDOWN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86200"/>
            <a:ext cx="101498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Clinical Diagnostic Category       Precision        Recall / Sensitivity        F1-Score         Test Support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Consolas"/>
              </a:defRPr>
            </a:pPr>
            <a:r>
              <a:t>Healthy (Class 0)                  99.35%           93.25%                   0.9620           326 Cases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Consolas"/>
              </a:defRPr>
            </a:pPr>
            <a:r>
              <a:t>Mild Stress (Class 1)              78.43%           97.17%                   0.8680           247 Cases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Consolas"/>
              </a:defRPr>
            </a:pPr>
            <a:r>
              <a:t>Moderate Stress (Class 2)          90.23%           78.11%                   0.8373           201 Cases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Consolas"/>
              </a:defRPr>
            </a:pPr>
            <a:r>
              <a:t>Severe Stress (Class 3)            100.00%          53.85%                   0.7000           26 Cases</a:t>
            </a:r>
          </a:p>
          <a:p>
            <a:pPr>
              <a:defRPr sz="900">
                <a:solidFill>
                  <a:srgbClr val="E2E8F0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Key Clinical Safety Takeaway: Zero Severe Stress cases were misclassified as Healthy. Misclassifications are strictly bounded to adjacent clinical categories, ensuring high-risk patients are never dismissed without monitoring.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OBJECTIVE 3: EXPLAINABLE AI &amp; AUDITABILITY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SHAP Modality Explainability &amp; 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Game-theoretic TreeSHAP proves that acoustic and visual biomarkers actively govern decision boundaries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2743200" cy="2743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GLOBAL MODALITY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Modality Attribution Percentages</a:t>
            </a:r>
          </a:p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Acoustic / Speech (32 PCA) — 43.45% (Primary Driver)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Wav2Vec vocal embeddings capture pitch modulation, jitter, and speech hesitation patterns indicative of stress escalation.</a:t>
            </a:r>
          </a:p>
          <a:p>
            <a:pPr>
              <a:defRPr sz="1300" b="1">
                <a:solidFill>
                  <a:srgbClr val="7C3AED"/>
                </a:solidFill>
                <a:latin typeface="Arial"/>
              </a:defRPr>
            </a:pPr>
            <a:r>
              <a:t>Visual / Facial (32 PCA) — 31.99% (Secondary Driver)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Vision Transformer tokens represent micro-expression variance, eye-blink frequency, and smile intensity collapse.</a:t>
            </a:r>
          </a:p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Physiological &amp; Behavioral — 24.56% (Contextual Anchor)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Autonomic sensors (HRV, GSR, Skin Temp) combined with behavioral telemetry (typing WPM, app latency) provide baseline stability.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22415" y="1783080"/>
            <a:ext cx="2743200" cy="2743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059669"/>
                </a:solidFill>
                <a:latin typeface="Arial"/>
              </a:defRPr>
            </a:pPr>
            <a:r>
              <a:t>CLINICAL AUDITABILITY &amp; 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2415" y="2194560"/>
            <a:ext cx="46634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Clinician-in-the-Loop Transparency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✔ Evidence-Based Attribution: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TreeSHAP generates additive feature contribution values, allowing clinicians to review exactly why a patient was flagged as Severe Stress.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✔ Elimination of Black-Box Skepticism: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Quantifies that decisions are not arbitrary tabular correlations, but grounded in speech tension (43.5%) and visual distress (32.0%).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✔ Patient-Level Explanation Reports: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Automated SHAP summary outputs provide transparent documentation for medical records and insurance compliance.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✔ Objective Therapeutic Tracking: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Quantifies recovery progression over time as speech and facial SHAP attributions shift back toward the Healthy baseline.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TRANSLATION &amp; PRODUCTION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Conclusion &amp; Production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An edge-deployable, real-time psychiatric screening platform ready for clinical trials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92424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164592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CLINICAL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93522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Interactive Streamlit Suite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Real-Time Ingestion: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Streamlit UI ingesting live microphone and webcam feeds alongside wearable telemetry.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Live Symptom Radar: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Interactive radar plots rendering real-time Depression, Anxiety, and Stress severity indexes.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Automated Clinical PDF: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One-click generation of physician-ready PDF reports with embedded SHAP attribution charts.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554480"/>
            <a:ext cx="3392424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26864" y="1783080"/>
            <a:ext cx="1645920" cy="256032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7C3AED"/>
                </a:solidFill>
                <a:latin typeface="Arial"/>
              </a:defRPr>
            </a:pPr>
            <a:r>
              <a:t>SYSTEM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148840"/>
            <a:ext cx="293522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Low-Latency Edge Execution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Sub-2 Second Latency: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End-to-end evaluation latency under 2 seconds on standard Apple Silicon (MPS backend) and CPUs.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Lightweight PCA Heads: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32-dimensional PCA compression enables real-time tree traversal without heavy GPU clusters.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Serialized Artifacts: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Production-ready joblib model pipelines allowing instant zero-cold-start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554480"/>
            <a:ext cx="3392424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93608" y="1783080"/>
            <a:ext cx="1645920" cy="25603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059669"/>
                </a:solidFill>
                <a:latin typeface="Arial"/>
              </a:defRPr>
            </a:pPr>
            <a:r>
              <a:t>HEALTHCARE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148840"/>
            <a:ext cx="293522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Next-Generation Triage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Objective Biomarkers: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Bridges the gap between subjective questionnaires and empirical multimodal signals.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Scalable Mental Health: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Enables continuous, passive psychiatric triage in universities, workplaces, and remote clinics.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Early Clinical Intervention: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Identifies subtle affective deterioration before acute functional impairment occurs.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